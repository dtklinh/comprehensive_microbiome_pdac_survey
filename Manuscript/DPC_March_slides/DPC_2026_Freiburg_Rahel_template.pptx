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webextensions/taskpanes.xml" ContentType="application/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9.png" ContentType="image/png"/>
  <Override PartName="/ppt/media/image16.jpeg" ContentType="image/jpeg"/>
  <Override PartName="/ppt/media/image15.jpeg" ContentType="image/jpeg"/>
  <Override PartName="/ppt/media/image20.jpeg" ContentType="image/jpeg"/>
  <Override PartName="/ppt/media/image14.tif" ContentType="image/tiff"/>
  <Override PartName="/ppt/media/image1.jpeg" ContentType="image/jpeg"/>
  <Override PartName="/ppt/media/image6.png" ContentType="image/png"/>
  <Override PartName="/ppt/media/image10.png" ContentType="image/png"/>
  <Override PartName="/ppt/media/image2.jpeg" ContentType="image/jpeg"/>
  <Override PartName="/ppt/media/image5.png" ContentType="image/png"/>
  <Override PartName="/ppt/media/image17.jpeg" ContentType="image/jpeg"/>
  <Override PartName="/ppt/media/image7.png" ContentType="image/png"/>
  <Override PartName="/ppt/media/image11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microsoft.com/office/2011/relationships/webextensiontaskpanes" Target="ppt/webextensions/taskpanes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</p:sldIdLst>
  <p:sldSz cx="12192000" cy="6858000"/>
  <p:notesSz cx="6797675" cy="9926638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8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9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10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729D9FC-4FCF-46CB-A754-1FB06E4778A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Num" idx="20"/>
          </p:nvPr>
        </p:nvSpPr>
        <p:spPr>
          <a:xfrm>
            <a:off x="3851280" y="9429840"/>
            <a:ext cx="2945520" cy="496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44A1A8-7712-45B5-95BB-E28B5199E8CF}" type="slidenum">
              <a:rPr b="0" lang="en-US" sz="10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sldImg"/>
          </p:nvPr>
        </p:nvSpPr>
        <p:spPr>
          <a:xfrm>
            <a:off x="92160" y="744480"/>
            <a:ext cx="6614280" cy="372204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906480" y="4714920"/>
            <a:ext cx="4984200" cy="4466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92160" y="744480"/>
            <a:ext cx="6614280" cy="372204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906480" y="4714920"/>
            <a:ext cx="4984200" cy="4466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21"/>
          </p:nvPr>
        </p:nvSpPr>
        <p:spPr>
          <a:xfrm>
            <a:off x="3851280" y="9429840"/>
            <a:ext cx="2945520" cy="496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EE6D943-BF2A-41BE-B010-8020C8B8BABD}" type="slidenum">
              <a:rPr b="0" lang="en-US" sz="100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92160" y="744480"/>
            <a:ext cx="6614280" cy="372204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906480" y="4714920"/>
            <a:ext cx="4984200" cy="4466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22"/>
          </p:nvPr>
        </p:nvSpPr>
        <p:spPr>
          <a:xfrm>
            <a:off x="3851280" y="9429840"/>
            <a:ext cx="2945520" cy="496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8DB465-69AB-4F0C-8307-05A858FC122F}" type="slidenum">
              <a:rPr b="0" lang="en-US" sz="100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92160" y="744480"/>
            <a:ext cx="6614280" cy="372204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906480" y="4714920"/>
            <a:ext cx="4984200" cy="4466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23"/>
          </p:nvPr>
        </p:nvSpPr>
        <p:spPr>
          <a:xfrm>
            <a:off x="3851280" y="9429840"/>
            <a:ext cx="2945520" cy="496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3B1672-A844-45F5-97F8-DFBC59556EFF}" type="slidenum">
              <a:rPr b="0" lang="en-US" sz="100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92160" y="744480"/>
            <a:ext cx="6614280" cy="372204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906480" y="4714920"/>
            <a:ext cx="4984200" cy="4466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24"/>
          </p:nvPr>
        </p:nvSpPr>
        <p:spPr>
          <a:xfrm>
            <a:off x="3851280" y="9429840"/>
            <a:ext cx="2945520" cy="496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A3DDF8C-4687-45F5-8A63-3692244C98C8}" type="slidenum">
              <a:rPr b="0" lang="en-US" sz="100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92160" y="744480"/>
            <a:ext cx="6614280" cy="372204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906480" y="4714920"/>
            <a:ext cx="4984200" cy="4466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25"/>
          </p:nvPr>
        </p:nvSpPr>
        <p:spPr>
          <a:xfrm>
            <a:off x="3851280" y="9429840"/>
            <a:ext cx="2945520" cy="496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3BAB08-A662-42EF-B29D-3B83E722FF48}" type="slidenum">
              <a:rPr b="0" lang="en-US" sz="100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92160" y="744480"/>
            <a:ext cx="6614280" cy="372204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906480" y="4714920"/>
            <a:ext cx="4984200" cy="4466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26"/>
          </p:nvPr>
        </p:nvSpPr>
        <p:spPr>
          <a:xfrm>
            <a:off x="3851280" y="9429840"/>
            <a:ext cx="2945520" cy="496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6FF4AD-3631-4BEC-9F3E-20B839F3CC02}" type="slidenum">
              <a:rPr b="0" lang="en-US" sz="100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92160" y="744480"/>
            <a:ext cx="6614280" cy="372204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906480" y="4714920"/>
            <a:ext cx="4984200" cy="4466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27"/>
          </p:nvPr>
        </p:nvSpPr>
        <p:spPr>
          <a:xfrm>
            <a:off x="3851280" y="9429840"/>
            <a:ext cx="2945520" cy="496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7B66B1-34E4-47C2-A66C-8F458BA01B17}" type="slidenum">
              <a:rPr b="0" lang="en-US" sz="100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92160" y="744480"/>
            <a:ext cx="6614280" cy="372204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906480" y="4714920"/>
            <a:ext cx="4984200" cy="4466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28"/>
          </p:nvPr>
        </p:nvSpPr>
        <p:spPr>
          <a:xfrm>
            <a:off x="3851280" y="9429840"/>
            <a:ext cx="2945520" cy="496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FC1CA2-9216-4F2B-A046-0DBF50CA978D}" type="slidenum">
              <a:rPr b="0" lang="en-US" sz="1000" spc="-1" strike="noStrike">
                <a:solidFill>
                  <a:schemeClr val="dk1"/>
                </a:solidFill>
                <a:latin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Num" idx="29"/>
          </p:nvPr>
        </p:nvSpPr>
        <p:spPr>
          <a:xfrm>
            <a:off x="3851280" y="9429840"/>
            <a:ext cx="2945520" cy="496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031012-B7C7-4DC8-A567-4491EE9C9BAB}" type="slidenum">
              <a:rPr b="0" lang="en-US" sz="10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Rectangle 7"/>
          <p:cNvSpPr/>
          <p:nvPr/>
        </p:nvSpPr>
        <p:spPr>
          <a:xfrm>
            <a:off x="3852720" y="9429840"/>
            <a:ext cx="2944080" cy="49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r">
              <a:lnSpc>
                <a:spcPct val="100000"/>
              </a:lnSpc>
            </a:pPr>
            <a:fld id="{532767AA-1F35-43FC-98EF-98F04BDA4746}" type="slidenum">
              <a:rPr b="0" lang="en-US" sz="10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sldImg"/>
          </p:nvPr>
        </p:nvSpPr>
        <p:spPr>
          <a:xfrm>
            <a:off x="92160" y="744480"/>
            <a:ext cx="6614280" cy="372204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3"/>
          <p:cNvSpPr>
            <a:spLocks noGrp="1"/>
          </p:cNvSpPr>
          <p:nvPr>
            <p:ph type="body"/>
          </p:nvPr>
        </p:nvSpPr>
        <p:spPr>
          <a:xfrm>
            <a:off x="906480" y="4714920"/>
            <a:ext cx="4984200" cy="4466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gleich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16" hidden="1"/>
          <p:cNvSpPr/>
          <p:nvPr/>
        </p:nvSpPr>
        <p:spPr>
          <a:xfrm>
            <a:off x="10748520" y="6485040"/>
            <a:ext cx="95796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F6773353-02E1-4C35-9079-35C775BC7220}" type="slidenum">
              <a:rPr b="1" lang="de-DE" sz="1100" spc="-1" strike="noStrike">
                <a:solidFill>
                  <a:srgbClr val="8f9cb8"/>
                </a:solidFill>
                <a:latin typeface="Arial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" name="Picture 48" descr=""/>
          <p:cNvPicPr/>
          <p:nvPr/>
        </p:nvPicPr>
        <p:blipFill>
          <a:blip r:embed="rId2"/>
          <a:stretch/>
        </p:blipFill>
        <p:spPr>
          <a:xfrm>
            <a:off x="8559720" y="338040"/>
            <a:ext cx="3148920" cy="289800"/>
          </a:xfrm>
          <a:prstGeom prst="rect">
            <a:avLst/>
          </a:prstGeom>
          <a:ln w="0">
            <a:noFill/>
          </a:ln>
        </p:spPr>
      </p:pic>
      <p:sp>
        <p:nvSpPr>
          <p:cNvPr id="2" name="Rectangle 42"/>
          <p:cNvSpPr/>
          <p:nvPr/>
        </p:nvSpPr>
        <p:spPr>
          <a:xfrm>
            <a:off x="812880" y="2362320"/>
            <a:ext cx="9346320" cy="28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1600" rIns="0" tIns="0" bIns="0" anchor="ctr">
            <a:noAutofit/>
          </a:bodyPr>
          <a:p>
            <a:pPr algn="ctr">
              <a:lnSpc>
                <a:spcPct val="100000"/>
              </a:lnSpc>
            </a:pPr>
            <a:endParaRPr b="0" lang="de-DE" sz="3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" descr=""/>
          <p:cNvPicPr/>
          <p:nvPr/>
        </p:nvPicPr>
        <p:blipFill>
          <a:blip r:embed="rId3"/>
          <a:stretch/>
        </p:blipFill>
        <p:spPr>
          <a:xfrm>
            <a:off x="360" y="0"/>
            <a:ext cx="12191400" cy="10152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31640" y="1290600"/>
            <a:ext cx="11270520" cy="44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480600" y="6477120"/>
            <a:ext cx="11228040" cy="143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DE" sz="1000" spc="-1" strike="noStrike">
                <a:solidFill>
                  <a:srgbClr val="8f9cb8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000" spc="-1" strike="noStrike">
                <a:solidFill>
                  <a:srgbClr val="8f9cb8"/>
                </a:solidFill>
                <a:latin typeface="Arial"/>
              </a:rPr>
              <a:t>&lt;footer&gt;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6"/>
          <p:cNvSpPr/>
          <p:nvPr/>
        </p:nvSpPr>
        <p:spPr>
          <a:xfrm>
            <a:off x="10748520" y="6485040"/>
            <a:ext cx="95796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0D4DD4AA-8EC4-4F65-9786-2A955FD64E62}" type="slidenum">
              <a:rPr b="1" lang="de-DE" sz="1100" spc="-1" strike="noStrike">
                <a:solidFill>
                  <a:srgbClr val="8f9cb8"/>
                </a:solidFill>
                <a:latin typeface="Arial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" name="" descr=""/>
          <p:cNvPicPr/>
          <p:nvPr/>
        </p:nvPicPr>
        <p:blipFill>
          <a:blip r:embed="rId2"/>
          <a:stretch/>
        </p:blipFill>
        <p:spPr>
          <a:xfrm>
            <a:off x="11201400" y="24480"/>
            <a:ext cx="951840" cy="432360"/>
          </a:xfrm>
          <a:prstGeom prst="rect">
            <a:avLst/>
          </a:prstGeom>
          <a:ln w="0">
            <a:noFill/>
          </a:ln>
        </p:spPr>
      </p:pic>
      <p:sp>
        <p:nvSpPr>
          <p:cNvPr id="10" name="Rectangle 1"/>
          <p:cNvSpPr/>
          <p:nvPr/>
        </p:nvSpPr>
        <p:spPr>
          <a:xfrm>
            <a:off x="4572000" y="6574320"/>
            <a:ext cx="2742840" cy="2833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t">
            <a:noAutofit/>
          </a:bodyPr>
          <a:p>
            <a:pPr>
              <a:lnSpc>
                <a:spcPts val="1100"/>
              </a:lnSpc>
            </a:pPr>
            <a:r>
              <a:rPr b="0" lang="de-DE" sz="1000" spc="-1" strike="noStrike">
                <a:solidFill>
                  <a:srgbClr val="8f9cb8"/>
                </a:solidFill>
                <a:latin typeface="Arial"/>
              </a:rPr>
              <a:t>&lt;footer&gt;DPC 45th - Freiburg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" descr=""/>
          <p:cNvPicPr/>
          <p:nvPr/>
        </p:nvPicPr>
        <p:blipFill>
          <a:blip r:embed="rId3"/>
          <a:stretch/>
        </p:blipFill>
        <p:spPr>
          <a:xfrm>
            <a:off x="10515600" y="28080"/>
            <a:ext cx="613080" cy="428760"/>
          </a:xfrm>
          <a:prstGeom prst="rect">
            <a:avLst/>
          </a:prstGeom>
          <a:ln w="0">
            <a:noFill/>
          </a:ln>
        </p:spPr>
      </p:pic>
      <p:sp>
        <p:nvSpPr>
          <p:cNvPr id="12" name="Rectangle 1"/>
          <p:cNvSpPr/>
          <p:nvPr/>
        </p:nvSpPr>
        <p:spPr>
          <a:xfrm>
            <a:off x="0" y="6574320"/>
            <a:ext cx="2742840" cy="2833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t">
            <a:noAutofit/>
          </a:bodyPr>
          <a:p>
            <a:pPr>
              <a:lnSpc>
                <a:spcPts val="1100"/>
              </a:lnSpc>
            </a:pPr>
            <a:r>
              <a:rPr b="0" lang="de-DE" sz="1000" spc="-1" strike="noStrike">
                <a:solidFill>
                  <a:srgbClr val="8f9cb8"/>
                </a:solidFill>
                <a:latin typeface="Arial"/>
              </a:rPr>
              <a:t>&lt;footer&gt;Linh Dang – AG Neeße - UMG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ftr" idx="2"/>
          </p:nvPr>
        </p:nvSpPr>
        <p:spPr>
          <a:xfrm>
            <a:off x="0" y="6574320"/>
            <a:ext cx="2742840" cy="2833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lstStyle>
            <a:lvl1pPr indent="0">
              <a:lnSpc>
                <a:spcPts val="1100"/>
              </a:lnSpc>
              <a:buNone/>
              <a:tabLst>
                <a:tab algn="l" pos="0"/>
              </a:tabLst>
              <a:defRPr b="0" lang="de-DE" sz="1000" spc="-1" strike="noStrike">
                <a:solidFill>
                  <a:srgbClr val="8f9cb8"/>
                </a:solidFill>
                <a:latin typeface="Arial"/>
              </a:defRPr>
            </a:lvl1pPr>
          </a:lstStyle>
          <a:p>
            <a:pPr indent="0"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de-DE" sz="1000" spc="-1" strike="noStrike">
                <a:solidFill>
                  <a:srgbClr val="8f9cb8"/>
                </a:solidFill>
                <a:latin typeface="Arial"/>
              </a:rPr>
              <a:t>&lt;footer&gt;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6"/>
          <p:cNvSpPr/>
          <p:nvPr/>
        </p:nvSpPr>
        <p:spPr>
          <a:xfrm>
            <a:off x="10748520" y="6485040"/>
            <a:ext cx="95796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9F1E90A4-B7BE-428A-98EB-AE4DE4582132}" type="slidenum">
              <a:rPr b="1" lang="de-DE" sz="1100" spc="-1" strike="noStrike">
                <a:solidFill>
                  <a:srgbClr val="8f9cb8"/>
                </a:solidFill>
                <a:latin typeface="Arial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31640" y="1290600"/>
            <a:ext cx="11270520" cy="440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78440" y="2517840"/>
            <a:ext cx="11228040" cy="3418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3"/>
          </p:nvPr>
        </p:nvSpPr>
        <p:spPr>
          <a:xfrm>
            <a:off x="478440" y="6165720"/>
            <a:ext cx="10076760" cy="511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lstStyle>
            <a:lvl1pPr indent="0">
              <a:lnSpc>
                <a:spcPts val="1100"/>
              </a:lnSpc>
              <a:buNone/>
              <a:tabLst>
                <a:tab algn="l" pos="0"/>
              </a:tabLst>
              <a:defRPr b="0" lang="de-DE" sz="1000" spc="-1" strike="noStrike">
                <a:solidFill>
                  <a:srgbClr val="8f9cb8"/>
                </a:solidFill>
                <a:latin typeface="Arial"/>
              </a:defRPr>
            </a:lvl1pPr>
          </a:lstStyle>
          <a:p>
            <a:pPr indent="0"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de-DE" sz="1000" spc="-1" strike="noStrike">
                <a:solidFill>
                  <a:srgbClr val="8f9cb8"/>
                </a:solidFill>
                <a:latin typeface="Arial"/>
              </a:rPr>
              <a:t>&lt;footer&gt;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6"/>
          <p:cNvSpPr/>
          <p:nvPr/>
        </p:nvSpPr>
        <p:spPr>
          <a:xfrm>
            <a:off x="10748520" y="6485040"/>
            <a:ext cx="95796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340AA361-72EB-46CA-BC8F-13481C96D0C5}" type="slidenum">
              <a:rPr b="1" lang="de-DE" sz="1100" spc="-1" strike="noStrike">
                <a:solidFill>
                  <a:srgbClr val="8f9cb8"/>
                </a:solidFill>
                <a:latin typeface="Arial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ftr" idx="4"/>
          </p:nvPr>
        </p:nvSpPr>
        <p:spPr>
          <a:xfrm>
            <a:off x="478440" y="6165720"/>
            <a:ext cx="10076760" cy="511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lstStyle>
            <a:lvl1pPr indent="0">
              <a:lnSpc>
                <a:spcPts val="1100"/>
              </a:lnSpc>
              <a:buNone/>
              <a:tabLst>
                <a:tab algn="l" pos="0"/>
              </a:tabLst>
              <a:defRPr b="0" lang="de-DE" sz="1000" spc="-1" strike="noStrike">
                <a:solidFill>
                  <a:srgbClr val="8f9cb8"/>
                </a:solidFill>
                <a:latin typeface="Arial"/>
              </a:defRPr>
            </a:lvl1pPr>
          </a:lstStyle>
          <a:p>
            <a:pPr indent="0"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de-DE" sz="1000" spc="-1" strike="noStrike">
                <a:solidFill>
                  <a:srgbClr val="8f9cb8"/>
                </a:solidFill>
                <a:latin typeface="Arial"/>
              </a:rPr>
              <a:t>&lt;footer&gt;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6"/>
          <p:cNvSpPr/>
          <p:nvPr/>
        </p:nvSpPr>
        <p:spPr>
          <a:xfrm>
            <a:off x="10748520" y="6485040"/>
            <a:ext cx="95796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5AFBD42D-9613-430C-ACFE-25A990428C80}" type="slidenum">
              <a:rPr b="1" lang="de-DE" sz="1100" spc="-1" strike="noStrike">
                <a:solidFill>
                  <a:srgbClr val="8f9cb8"/>
                </a:solidFill>
                <a:latin typeface="Arial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ftr" idx="5"/>
          </p:nvPr>
        </p:nvSpPr>
        <p:spPr>
          <a:xfrm>
            <a:off x="478440" y="6165720"/>
            <a:ext cx="10076760" cy="511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lstStyle>
            <a:lvl1pPr indent="0">
              <a:lnSpc>
                <a:spcPts val="1100"/>
              </a:lnSpc>
              <a:buNone/>
              <a:tabLst>
                <a:tab algn="l" pos="0"/>
              </a:tabLst>
              <a:defRPr b="0" lang="de-DE" sz="1000" spc="-1" strike="noStrike">
                <a:solidFill>
                  <a:srgbClr val="8f9cb8"/>
                </a:solidFill>
                <a:latin typeface="Arial"/>
              </a:defRPr>
            </a:lvl1pPr>
          </a:lstStyle>
          <a:p>
            <a:pPr indent="0"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de-DE" sz="1000" spc="-1" strike="noStrike">
                <a:solidFill>
                  <a:srgbClr val="8f9cb8"/>
                </a:solidFill>
                <a:latin typeface="Arial"/>
              </a:rPr>
              <a:t>&lt;footer&gt;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16"/>
          <p:cNvSpPr/>
          <p:nvPr/>
        </p:nvSpPr>
        <p:spPr>
          <a:xfrm>
            <a:off x="10748520" y="6485040"/>
            <a:ext cx="95796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F2C052AF-6FF4-42AB-9580-6B02CAF134C8}" type="slidenum">
              <a:rPr b="1" lang="de-DE" sz="1100" spc="-1" strike="noStrike">
                <a:solidFill>
                  <a:srgbClr val="8f9cb8"/>
                </a:solidFill>
                <a:latin typeface="Arial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ftr" idx="6"/>
          </p:nvPr>
        </p:nvSpPr>
        <p:spPr>
          <a:xfrm>
            <a:off x="478440" y="6165720"/>
            <a:ext cx="10076760" cy="511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lstStyle>
            <a:lvl1pPr indent="0">
              <a:lnSpc>
                <a:spcPts val="1100"/>
              </a:lnSpc>
              <a:buNone/>
              <a:tabLst>
                <a:tab algn="l" pos="0"/>
              </a:tabLst>
              <a:defRPr b="0" lang="de-DE" sz="1000" spc="-1" strike="noStrike">
                <a:solidFill>
                  <a:srgbClr val="8f9cb8"/>
                </a:solidFill>
                <a:latin typeface="Arial"/>
              </a:defRPr>
            </a:lvl1pPr>
          </a:lstStyle>
          <a:p>
            <a:pPr indent="0"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de-DE" sz="1000" spc="-1" strike="noStrike">
                <a:solidFill>
                  <a:srgbClr val="8f9cb8"/>
                </a:solidFill>
                <a:latin typeface="Arial"/>
              </a:rPr>
              <a:t>&lt;footer&gt;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16"/>
          <p:cNvSpPr/>
          <p:nvPr/>
        </p:nvSpPr>
        <p:spPr>
          <a:xfrm>
            <a:off x="10748520" y="6485040"/>
            <a:ext cx="95796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</a:pPr>
            <a:fld id="{2AD24617-5EBC-4475-9207-946F3AFE88C9}" type="slidenum">
              <a:rPr b="1" lang="de-DE" sz="1100" spc="-1" strike="noStrike">
                <a:solidFill>
                  <a:srgbClr val="8f9cb8"/>
                </a:solidFill>
                <a:latin typeface="Arial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ftr" idx="7"/>
          </p:nvPr>
        </p:nvSpPr>
        <p:spPr>
          <a:xfrm>
            <a:off x="478440" y="6165720"/>
            <a:ext cx="10076760" cy="511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lstStyle>
            <a:lvl1pPr indent="0">
              <a:lnSpc>
                <a:spcPts val="1100"/>
              </a:lnSpc>
              <a:buNone/>
              <a:tabLst>
                <a:tab algn="l" pos="0"/>
              </a:tabLst>
              <a:defRPr b="0" lang="de-DE" sz="1000" spc="-1" strike="noStrike">
                <a:solidFill>
                  <a:srgbClr val="8f9cb8"/>
                </a:solidFill>
                <a:latin typeface="Arial"/>
              </a:defRPr>
            </a:lvl1pPr>
          </a:lstStyle>
          <a:p>
            <a:pPr indent="0"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de-DE" sz="1000" spc="-1" strike="noStrike">
                <a:solidFill>
                  <a:srgbClr val="8f9cb8"/>
                </a:solidFill>
                <a:latin typeface="Arial"/>
              </a:rPr>
              <a:t>&lt;footer&gt;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tif"/><Relationship Id="rId3" Type="http://schemas.openxmlformats.org/officeDocument/2006/relationships/hyperlink" Target="http://www.google.de/url?sa=i&amp;rct=j&amp;q=&amp;esrc=s&amp;source=images&amp;cd=&amp;cad=rja&amp;uact=8&amp;ved=0ahUKEwikwtXHm_XWAhWRLlAKHQMdDkUQjRwIBw&amp;url=http://www.horizont.net/agenturen/nachrichten/Deutschen-Krebshilfe-Denkwerk-hat-im-Digitalpitch-die-Nase-vorn-134208&amp;psig=AOvVaw3LArrssuP6_Beq2ue4xBMI&amp;ust=1508245792608853" TargetMode="External"/><Relationship Id="rId4" Type="http://schemas.openxmlformats.org/officeDocument/2006/relationships/image" Target="../media/image15.jpeg"/><Relationship Id="rId5" Type="http://schemas.openxmlformats.org/officeDocument/2006/relationships/image" Target="../media/image16.jpeg"/><Relationship Id="rId6" Type="http://schemas.openxmlformats.org/officeDocument/2006/relationships/image" Target="../media/image17.jpe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jpeg"/><Relationship Id="rId10" Type="http://schemas.openxmlformats.org/officeDocument/2006/relationships/image" Target="../media/image4.png"/><Relationship Id="rId11" Type="http://schemas.openxmlformats.org/officeDocument/2006/relationships/slideLayout" Target="../slideLayouts/slideLayout6.xml"/><Relationship Id="rId1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3"/>
          <p:cNvSpPr/>
          <p:nvPr/>
        </p:nvSpPr>
        <p:spPr>
          <a:xfrm>
            <a:off x="224640" y="1124280"/>
            <a:ext cx="11739600" cy="161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</a:rPr>
              <a:t>Distangling contaminants from true intratumoural microbial signals in pancreatic ductal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3200" spc="-1" strike="noStrike">
                <a:solidFill>
                  <a:schemeClr val="dk1"/>
                </a:solidFill>
                <a:latin typeface="Times New Roman"/>
              </a:rPr>
              <a:t>adenocarcinoma – A benchmarking approach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Rectangle 4"/>
          <p:cNvSpPr/>
          <p:nvPr/>
        </p:nvSpPr>
        <p:spPr>
          <a:xfrm>
            <a:off x="1882800" y="6477120"/>
            <a:ext cx="6261840" cy="1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1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" name="Picture 2" descr="45th Anual Meeting of the German Pancreas Club"/>
          <p:cNvPicPr/>
          <p:nvPr/>
        </p:nvPicPr>
        <p:blipFill>
          <a:blip r:embed="rId1"/>
          <a:stretch/>
        </p:blipFill>
        <p:spPr>
          <a:xfrm>
            <a:off x="0" y="0"/>
            <a:ext cx="12191400" cy="1015200"/>
          </a:xfrm>
          <a:prstGeom prst="rect">
            <a:avLst/>
          </a:prstGeom>
          <a:ln w="0">
            <a:noFill/>
          </a:ln>
        </p:spPr>
      </p:pic>
      <p:pic>
        <p:nvPicPr>
          <p:cNvPr id="45" name="Bildobjekt 1" descr="En bild som visar text, Teckensnitt, Grafik, typografi&#10;&#10;AI-genererat innehåll kan vara felaktigt."/>
          <p:cNvPicPr/>
          <p:nvPr/>
        </p:nvPicPr>
        <p:blipFill>
          <a:blip r:embed="rId2"/>
          <a:stretch/>
        </p:blipFill>
        <p:spPr>
          <a:xfrm>
            <a:off x="9048240" y="6283800"/>
            <a:ext cx="3142800" cy="506520"/>
          </a:xfrm>
          <a:prstGeom prst="rect">
            <a:avLst/>
          </a:prstGeom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/>
          </p:nvPr>
        </p:nvSpPr>
        <p:spPr>
          <a:xfrm>
            <a:off x="914400" y="2971800"/>
            <a:ext cx="10318320" cy="90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b">
            <a:noAutofit/>
          </a:bodyPr>
          <a:p>
            <a:pPr indent="0" algn="ctr">
              <a:lnSpc>
                <a:spcPts val="2401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Arial"/>
              </a:rPr>
              <a:t>Linh Dang, xxx, xxx, Volker Ellenrieder, Albrecht Neesse ‍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ts val="2401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Arial"/>
              </a:rPr>
              <a:t>AG Neeße - Clinic for Gastroenterology, Gastrointestinal Oncology and Endocrinology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ts val="2401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Arial"/>
              </a:rPr>
              <a:t>University Medical Center Göttingen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ts val="2401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Picture 4" descr="A close-up of a human body&#10;&#10;AI-generated content may be incorrect."/>
          <p:cNvPicPr/>
          <p:nvPr/>
        </p:nvPicPr>
        <p:blipFill>
          <a:blip r:embed="rId3"/>
          <a:stretch/>
        </p:blipFill>
        <p:spPr>
          <a:xfrm>
            <a:off x="3821760" y="3727080"/>
            <a:ext cx="4608000" cy="3224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ftr" idx="11"/>
          </p:nvPr>
        </p:nvSpPr>
        <p:spPr>
          <a:xfrm>
            <a:off x="480600" y="6477120"/>
            <a:ext cx="8855280" cy="143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8f9cb8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f9cb8"/>
                </a:solidFill>
                <a:latin typeface="Times New Roman"/>
              </a:rPr>
              <a:t>Linh Dang– AG Neeße - UMG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Rubrik 3"/>
          <p:cNvSpPr/>
          <p:nvPr/>
        </p:nvSpPr>
        <p:spPr>
          <a:xfrm>
            <a:off x="228600" y="888840"/>
            <a:ext cx="490392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720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29400"/>
                </a:solidFill>
                <a:latin typeface="Times New Roman"/>
              </a:rPr>
              <a:t>Intratumoral Microbiome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" name="Picture 7" descr="45th Anual Meeting of the German Pancreas Club"/>
          <p:cNvPicPr/>
          <p:nvPr/>
        </p:nvPicPr>
        <p:blipFill>
          <a:blip r:embed="rId1"/>
          <a:srcRect l="1538" t="0" r="65221" b="0"/>
          <a:stretch/>
        </p:blipFill>
        <p:spPr>
          <a:xfrm>
            <a:off x="9144000" y="0"/>
            <a:ext cx="3047400" cy="741240"/>
          </a:xfrm>
          <a:prstGeom prst="rect">
            <a:avLst/>
          </a:prstGeom>
          <a:ln w="0">
            <a:noFill/>
          </a:ln>
        </p:spPr>
      </p:pic>
      <p:sp>
        <p:nvSpPr>
          <p:cNvPr id="51" name="Rektangel 3"/>
          <p:cNvSpPr/>
          <p:nvPr/>
        </p:nvSpPr>
        <p:spPr>
          <a:xfrm>
            <a:off x="0" y="7560"/>
            <a:ext cx="12191400" cy="739440"/>
          </a:xfrm>
          <a:prstGeom prst="rect">
            <a:avLst/>
          </a:prstGeom>
          <a:noFill/>
          <a:ln w="19050">
            <a:solidFill>
              <a:srgbClr val="0042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21600" rIns="0" tIns="0" bIns="0" anchor="ctr">
            <a:noAutofit/>
          </a:bodyPr>
          <a:p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" name="Picture 8" descr="A close-up of a human body&#10;&#10;AI-generated content may be incorrect."/>
          <p:cNvPicPr/>
          <p:nvPr/>
        </p:nvPicPr>
        <p:blipFill>
          <a:blip r:embed="rId2"/>
          <a:stretch/>
        </p:blipFill>
        <p:spPr>
          <a:xfrm>
            <a:off x="0" y="-34560"/>
            <a:ext cx="1117080" cy="781560"/>
          </a:xfrm>
          <a:prstGeom prst="rect">
            <a:avLst/>
          </a:prstGeom>
          <a:ln w="0">
            <a:noFill/>
          </a:ln>
        </p:spPr>
      </p:pic>
      <p:pic>
        <p:nvPicPr>
          <p:cNvPr id="53" name="" descr=""/>
          <p:cNvPicPr/>
          <p:nvPr/>
        </p:nvPicPr>
        <p:blipFill>
          <a:blip r:embed="rId3"/>
          <a:stretch/>
        </p:blipFill>
        <p:spPr>
          <a:xfrm>
            <a:off x="5029200" y="30600"/>
            <a:ext cx="1476360" cy="68580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 txBox="1"/>
          <p:nvPr/>
        </p:nvSpPr>
        <p:spPr>
          <a:xfrm>
            <a:off x="914400" y="1857600"/>
            <a:ext cx="9372600" cy="1647360"/>
          </a:xfrm>
          <a:prstGeom prst="rect">
            <a:avLst/>
          </a:prstGeom>
          <a:noFill/>
          <a:ln cap="rnd" w="45720">
            <a:solidFill>
              <a:srgbClr val="2a6099">
                <a:alpha val="90000"/>
              </a:srgbClr>
            </a:solidFill>
            <a:round/>
          </a:ln>
        </p:spPr>
        <p:txBody>
          <a:bodyPr lIns="106200" rIns="106200" tIns="61200" bIns="61200" anchor="t">
            <a:noAutofit/>
          </a:bodyPr>
          <a:p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Background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Malignant tumors harbor their own bacteria community</a:t>
            </a:r>
            <a:endParaRPr b="0" lang="en-US" sz="2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New biomarkers for diagnoses, prognoses and therapy</a:t>
            </a:r>
            <a:endParaRPr b="0" lang="en-US" sz="20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914760" y="3657600"/>
            <a:ext cx="9372600" cy="1371600"/>
          </a:xfrm>
          <a:prstGeom prst="rect">
            <a:avLst/>
          </a:prstGeom>
          <a:noFill/>
          <a:ln w="45720">
            <a:solidFill>
              <a:srgbClr val="ff0000">
                <a:alpha val="90000"/>
              </a:srgbClr>
            </a:solidFill>
            <a:round/>
          </a:ln>
        </p:spPr>
        <p:txBody>
          <a:bodyPr lIns="112680" rIns="112680" tIns="67680" bIns="67680" anchor="t">
            <a:noAutofit/>
          </a:bodyPr>
          <a:p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Challenges!!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Low bio-mass samples, prone to contamination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Prone to batch effect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Right Arrow 29"/>
          <p:cNvSpPr/>
          <p:nvPr/>
        </p:nvSpPr>
        <p:spPr>
          <a:xfrm>
            <a:off x="3193920" y="5486400"/>
            <a:ext cx="920880" cy="254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e9cb9"/>
          </a:solidFill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21600" rIns="0" tIns="0" bIns="0" anchor="ctr">
            <a:noAutofit/>
          </a:bodyPr>
          <a:p>
            <a:endParaRPr b="0" lang="en-DE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392720" y="5486400"/>
            <a:ext cx="3151080" cy="3736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Need a systematic study</a:t>
            </a:r>
            <a:endParaRPr b="1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Right Arrow 1"/>
          <p:cNvSpPr/>
          <p:nvPr/>
        </p:nvSpPr>
        <p:spPr>
          <a:xfrm>
            <a:off x="3200400" y="5486400"/>
            <a:ext cx="920880" cy="254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e9cb9"/>
          </a:solidFill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21600" rIns="0" tIns="0" bIns="0" anchor="ctr">
            <a:noAutofit/>
          </a:bodyPr>
          <a:p>
            <a:endParaRPr b="0" lang="en-DE" sz="3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ftr" idx="12"/>
          </p:nvPr>
        </p:nvSpPr>
        <p:spPr>
          <a:xfrm>
            <a:off x="480600" y="6477120"/>
            <a:ext cx="8855280" cy="143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8f9cb8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f9cb8"/>
                </a:solidFill>
                <a:latin typeface="Times New Roman"/>
              </a:rPr>
              <a:t>Linh Dang– AG Neeße - UMG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Rubrik 2"/>
          <p:cNvSpPr/>
          <p:nvPr/>
        </p:nvSpPr>
        <p:spPr>
          <a:xfrm>
            <a:off x="3097080" y="2743200"/>
            <a:ext cx="650412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720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3200" spc="-1" strike="noStrike">
                <a:solidFill>
                  <a:srgbClr val="000000"/>
                </a:solidFill>
                <a:latin typeface="Times New Roman"/>
              </a:rPr>
              <a:t>Section 1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29400"/>
                </a:solidFill>
                <a:latin typeface="Times New Roman"/>
              </a:rPr>
              <a:t>Negative Control Survey in </a:t>
            </a:r>
            <a:r>
              <a:rPr b="1" lang="en-US" sz="3200" spc="-1" strike="noStrike">
                <a:solidFill>
                  <a:srgbClr val="f29400"/>
                </a:solidFill>
                <a:latin typeface="Times New Roman"/>
              </a:rPr>
              <a:t>the Lab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" name="Picture 5" descr="45th Anual Meeting of the German Pancreas Club"/>
          <p:cNvPicPr/>
          <p:nvPr/>
        </p:nvPicPr>
        <p:blipFill>
          <a:blip r:embed="rId1"/>
          <a:srcRect l="1538" t="0" r="65221" b="0"/>
          <a:stretch/>
        </p:blipFill>
        <p:spPr>
          <a:xfrm>
            <a:off x="9144000" y="0"/>
            <a:ext cx="3047400" cy="741240"/>
          </a:xfrm>
          <a:prstGeom prst="rect">
            <a:avLst/>
          </a:prstGeom>
          <a:ln w="0">
            <a:noFill/>
          </a:ln>
        </p:spPr>
      </p:pic>
      <p:sp>
        <p:nvSpPr>
          <p:cNvPr id="62" name="Rektangel 2"/>
          <p:cNvSpPr/>
          <p:nvPr/>
        </p:nvSpPr>
        <p:spPr>
          <a:xfrm>
            <a:off x="0" y="7560"/>
            <a:ext cx="12191400" cy="739440"/>
          </a:xfrm>
          <a:prstGeom prst="rect">
            <a:avLst/>
          </a:prstGeom>
          <a:noFill/>
          <a:ln w="19050">
            <a:solidFill>
              <a:srgbClr val="0042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21600" rIns="0" tIns="0" bIns="0" anchor="ctr">
            <a:noAutofit/>
          </a:bodyPr>
          <a:p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Picture 6" descr="A close-up of a human body&#10;&#10;AI-generated content may be incorrect."/>
          <p:cNvPicPr/>
          <p:nvPr/>
        </p:nvPicPr>
        <p:blipFill>
          <a:blip r:embed="rId2"/>
          <a:stretch/>
        </p:blipFill>
        <p:spPr>
          <a:xfrm>
            <a:off x="0" y="-34560"/>
            <a:ext cx="1117080" cy="781560"/>
          </a:xfrm>
          <a:prstGeom prst="rect">
            <a:avLst/>
          </a:prstGeom>
          <a:ln w="0">
            <a:noFill/>
          </a:ln>
        </p:spPr>
      </p:pic>
      <p:sp>
        <p:nvSpPr>
          <p:cNvPr id="64" name="Rectangle 2"/>
          <p:cNvSpPr/>
          <p:nvPr/>
        </p:nvSpPr>
        <p:spPr>
          <a:xfrm>
            <a:off x="9409680" y="6477120"/>
            <a:ext cx="1563120" cy="1436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8f9cb8"/>
                </a:solidFill>
                <a:latin typeface="Times New Roman"/>
              </a:rPr>
              <a:t>Unpublished Data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3"/>
          <a:stretch/>
        </p:blipFill>
        <p:spPr>
          <a:xfrm>
            <a:off x="5029200" y="30600"/>
            <a:ext cx="1476360" cy="685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ftr" idx="13"/>
          </p:nvPr>
        </p:nvSpPr>
        <p:spPr>
          <a:xfrm>
            <a:off x="480600" y="6477120"/>
            <a:ext cx="4320000" cy="143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8f9cb8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f9cb8"/>
                </a:solidFill>
                <a:latin typeface="Times New Roman"/>
              </a:rPr>
              <a:t>Linh Dang– AG Neeße - UMG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Rubrik 5"/>
          <p:cNvSpPr/>
          <p:nvPr/>
        </p:nvSpPr>
        <p:spPr>
          <a:xfrm>
            <a:off x="228600" y="888840"/>
            <a:ext cx="490392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720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29400"/>
                </a:solidFill>
                <a:latin typeface="Times New Roman"/>
              </a:rPr>
              <a:t>Negative Sample Collection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Picture 2" descr="45th Anual Meeting of the German Pancreas Club"/>
          <p:cNvPicPr/>
          <p:nvPr/>
        </p:nvPicPr>
        <p:blipFill>
          <a:blip r:embed="rId1"/>
          <a:srcRect l="1538" t="0" r="65221" b="0"/>
          <a:stretch/>
        </p:blipFill>
        <p:spPr>
          <a:xfrm>
            <a:off x="9144000" y="0"/>
            <a:ext cx="3047400" cy="741240"/>
          </a:xfrm>
          <a:prstGeom prst="rect">
            <a:avLst/>
          </a:prstGeom>
          <a:ln w="0">
            <a:noFill/>
          </a:ln>
        </p:spPr>
      </p:pic>
      <p:sp>
        <p:nvSpPr>
          <p:cNvPr id="69" name="Rektangel 7"/>
          <p:cNvSpPr/>
          <p:nvPr/>
        </p:nvSpPr>
        <p:spPr>
          <a:xfrm>
            <a:off x="0" y="7560"/>
            <a:ext cx="12191400" cy="739440"/>
          </a:xfrm>
          <a:prstGeom prst="rect">
            <a:avLst/>
          </a:prstGeom>
          <a:noFill/>
          <a:ln w="19050">
            <a:solidFill>
              <a:srgbClr val="0042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21600" rIns="0" tIns="0" bIns="0" anchor="ctr">
            <a:noAutofit/>
          </a:bodyPr>
          <a:p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Picture 4" descr="A close-up of a human body&#10;&#10;AI-generated content may be incorrect."/>
          <p:cNvPicPr/>
          <p:nvPr/>
        </p:nvPicPr>
        <p:blipFill>
          <a:blip r:embed="rId2"/>
          <a:stretch/>
        </p:blipFill>
        <p:spPr>
          <a:xfrm>
            <a:off x="0" y="-34560"/>
            <a:ext cx="1117080" cy="781560"/>
          </a:xfrm>
          <a:prstGeom prst="rect">
            <a:avLst/>
          </a:prstGeom>
          <a:ln w="0">
            <a:noFill/>
          </a:ln>
        </p:spPr>
      </p:pic>
      <p:sp>
        <p:nvSpPr>
          <p:cNvPr id="71" name="Rectangle 30"/>
          <p:cNvSpPr/>
          <p:nvPr/>
        </p:nvSpPr>
        <p:spPr>
          <a:xfrm>
            <a:off x="9409680" y="6477120"/>
            <a:ext cx="1563120" cy="1436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8f9cb8"/>
                </a:solidFill>
                <a:latin typeface="Times New Roman"/>
              </a:rPr>
              <a:t>Unpublished Data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3"/>
          <a:stretch/>
        </p:blipFill>
        <p:spPr>
          <a:xfrm>
            <a:off x="5029200" y="30600"/>
            <a:ext cx="1476360" cy="685800"/>
          </a:xfrm>
          <a:prstGeom prst="rect">
            <a:avLst/>
          </a:prstGeom>
          <a:ln w="0">
            <a:noFill/>
          </a:ln>
        </p:spPr>
      </p:pic>
      <p:pic>
        <p:nvPicPr>
          <p:cNvPr id="73" name="" descr=""/>
          <p:cNvPicPr/>
          <p:nvPr/>
        </p:nvPicPr>
        <p:blipFill>
          <a:blip r:embed="rId4"/>
          <a:stretch/>
        </p:blipFill>
        <p:spPr>
          <a:xfrm>
            <a:off x="5953320" y="1125360"/>
            <a:ext cx="5705280" cy="5351760"/>
          </a:xfrm>
          <a:prstGeom prst="rect">
            <a:avLst/>
          </a:prstGeom>
          <a:ln w="0">
            <a:noFill/>
          </a:ln>
        </p:spPr>
      </p:pic>
      <p:sp>
        <p:nvSpPr>
          <p:cNvPr id="74" name=""/>
          <p:cNvSpPr txBox="1"/>
          <p:nvPr/>
        </p:nvSpPr>
        <p:spPr>
          <a:xfrm>
            <a:off x="457200" y="2743200"/>
            <a:ext cx="4343400" cy="1740960"/>
          </a:xfrm>
          <a:prstGeom prst="rect">
            <a:avLst/>
          </a:prstGeom>
          <a:noFill/>
          <a:ln w="18360">
            <a:solidFill>
              <a:srgbClr val="000000"/>
            </a:solidFill>
            <a:round/>
          </a:ln>
        </p:spPr>
        <p:txBody>
          <a:bodyPr lIns="99000" rIns="99000" tIns="54000" bIns="54000" anchor="t">
            <a:noAutofit/>
          </a:bodyPr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203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negative control samples were collected over 4 years:</a:t>
            </a:r>
            <a:endParaRPr b="0" lang="en-US" sz="2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113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buffer controls,</a:t>
            </a:r>
            <a:endParaRPr b="0" lang="en-US" sz="2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84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paraﬀin controls,</a:t>
            </a:r>
            <a:endParaRPr b="0" lang="en-US" sz="2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6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PCR controls.</a:t>
            </a:r>
            <a:endParaRPr b="0" lang="en-US" sz="20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ftr" idx="14"/>
          </p:nvPr>
        </p:nvSpPr>
        <p:spPr>
          <a:xfrm>
            <a:off x="480600" y="6477120"/>
            <a:ext cx="4320000" cy="143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rgbClr val="8f9cb8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f9cb8"/>
                </a:solidFill>
                <a:latin typeface="Times New Roman"/>
              </a:rPr>
              <a:t>Linh Dang– AG Neeße - UMG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Rubrik 6"/>
          <p:cNvSpPr/>
          <p:nvPr/>
        </p:nvSpPr>
        <p:spPr>
          <a:xfrm>
            <a:off x="228600" y="888840"/>
            <a:ext cx="1097280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720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29400"/>
                </a:solidFill>
                <a:latin typeface="Times New Roman"/>
              </a:rPr>
              <a:t>Low bio-mass microbiome data are prone to batch effect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ektangel 5"/>
          <p:cNvSpPr/>
          <p:nvPr/>
        </p:nvSpPr>
        <p:spPr>
          <a:xfrm>
            <a:off x="0" y="7560"/>
            <a:ext cx="12191400" cy="739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2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21600" rIns="0" tIns="0" bIns="0" anchor="ctr">
            <a:noAutofit/>
          </a:bodyPr>
          <a:p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Picture 10" descr="45th Anual Meeting of the German Pancreas Club"/>
          <p:cNvPicPr/>
          <p:nvPr/>
        </p:nvPicPr>
        <p:blipFill>
          <a:blip r:embed="rId1"/>
          <a:srcRect l="1538" t="0" r="65221" b="0"/>
          <a:stretch/>
        </p:blipFill>
        <p:spPr>
          <a:xfrm>
            <a:off x="9144000" y="0"/>
            <a:ext cx="3047400" cy="741240"/>
          </a:xfrm>
          <a:prstGeom prst="rect">
            <a:avLst/>
          </a:prstGeom>
          <a:ln w="0">
            <a:noFill/>
          </a:ln>
        </p:spPr>
      </p:pic>
      <p:pic>
        <p:nvPicPr>
          <p:cNvPr id="79" name="Picture 11" descr="A close-up of a human body&#10;&#10;AI-generated content may be incorrect."/>
          <p:cNvPicPr/>
          <p:nvPr/>
        </p:nvPicPr>
        <p:blipFill>
          <a:blip r:embed="rId2"/>
          <a:stretch/>
        </p:blipFill>
        <p:spPr>
          <a:xfrm>
            <a:off x="0" y="-34560"/>
            <a:ext cx="1117080" cy="781560"/>
          </a:xfrm>
          <a:prstGeom prst="rect">
            <a:avLst/>
          </a:prstGeom>
          <a:ln w="0">
            <a:noFill/>
          </a:ln>
        </p:spPr>
      </p:pic>
      <p:sp>
        <p:nvSpPr>
          <p:cNvPr id="80" name="Rectangle 6"/>
          <p:cNvSpPr/>
          <p:nvPr/>
        </p:nvSpPr>
        <p:spPr>
          <a:xfrm>
            <a:off x="9409680" y="6477120"/>
            <a:ext cx="1563120" cy="1436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8f9cb8"/>
                </a:solidFill>
                <a:latin typeface="Times New Roman"/>
              </a:rPr>
              <a:t>Unpublished Data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" descr=""/>
          <p:cNvPicPr/>
          <p:nvPr/>
        </p:nvPicPr>
        <p:blipFill>
          <a:blip r:embed="rId3"/>
          <a:stretch/>
        </p:blipFill>
        <p:spPr>
          <a:xfrm>
            <a:off x="5029200" y="30600"/>
            <a:ext cx="1476360" cy="685800"/>
          </a:xfrm>
          <a:prstGeom prst="rect">
            <a:avLst/>
          </a:prstGeom>
          <a:ln w="0">
            <a:noFill/>
          </a:ln>
        </p:spPr>
      </p:pic>
      <p:pic>
        <p:nvPicPr>
          <p:cNvPr id="82" name="" descr=""/>
          <p:cNvPicPr/>
          <p:nvPr/>
        </p:nvPicPr>
        <p:blipFill>
          <a:blip r:embed="rId4"/>
          <a:stretch/>
        </p:blipFill>
        <p:spPr>
          <a:xfrm>
            <a:off x="30600" y="1828800"/>
            <a:ext cx="5455800" cy="2413440"/>
          </a:xfrm>
          <a:prstGeom prst="rect">
            <a:avLst/>
          </a:prstGeom>
          <a:ln w="0">
            <a:noFill/>
          </a:ln>
        </p:spPr>
      </p:pic>
      <p:pic>
        <p:nvPicPr>
          <p:cNvPr id="83" name="" descr=""/>
          <p:cNvPicPr/>
          <p:nvPr/>
        </p:nvPicPr>
        <p:blipFill>
          <a:blip r:embed="rId5"/>
          <a:stretch/>
        </p:blipFill>
        <p:spPr>
          <a:xfrm>
            <a:off x="5800320" y="1828800"/>
            <a:ext cx="6391800" cy="394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ftr" idx="15"/>
          </p:nvPr>
        </p:nvSpPr>
        <p:spPr>
          <a:xfrm>
            <a:off x="480600" y="6477120"/>
            <a:ext cx="8855280" cy="143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8f9cb8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f9cb8"/>
                </a:solidFill>
                <a:latin typeface="Times New Roman"/>
              </a:rPr>
              <a:t>Linh Dang– AG Neeße - UMG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Rubrik 4"/>
          <p:cNvSpPr/>
          <p:nvPr/>
        </p:nvSpPr>
        <p:spPr>
          <a:xfrm>
            <a:off x="685800" y="2743200"/>
            <a:ext cx="10744200" cy="16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720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3200" spc="-1" strike="noStrike">
                <a:solidFill>
                  <a:srgbClr val="000000"/>
                </a:solidFill>
                <a:latin typeface="Times New Roman"/>
              </a:rPr>
              <a:t>Section 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3200" spc="-1" strike="noStrike">
                <a:solidFill>
                  <a:srgbClr val="f29400"/>
                </a:solidFill>
                <a:latin typeface="Times New Roman"/>
              </a:rPr>
              <a:t>Assessment of Decontamination Methods and Intratumoral Microbiome in PDAC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Picture 3" descr="45th Anual Meeting of the German Pancreas Club"/>
          <p:cNvPicPr/>
          <p:nvPr/>
        </p:nvPicPr>
        <p:blipFill>
          <a:blip r:embed="rId1"/>
          <a:srcRect l="1538" t="0" r="65221" b="0"/>
          <a:stretch/>
        </p:blipFill>
        <p:spPr>
          <a:xfrm>
            <a:off x="9144000" y="0"/>
            <a:ext cx="3047400" cy="741240"/>
          </a:xfrm>
          <a:prstGeom prst="rect">
            <a:avLst/>
          </a:prstGeom>
          <a:ln w="0">
            <a:noFill/>
          </a:ln>
        </p:spPr>
      </p:pic>
      <p:sp>
        <p:nvSpPr>
          <p:cNvPr id="87" name="Rektangel 4"/>
          <p:cNvSpPr/>
          <p:nvPr/>
        </p:nvSpPr>
        <p:spPr>
          <a:xfrm>
            <a:off x="0" y="7560"/>
            <a:ext cx="12191400" cy="739440"/>
          </a:xfrm>
          <a:prstGeom prst="rect">
            <a:avLst/>
          </a:prstGeom>
          <a:noFill/>
          <a:ln w="19050">
            <a:solidFill>
              <a:srgbClr val="0042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21600" rIns="0" tIns="0" bIns="0" anchor="ctr">
            <a:noAutofit/>
          </a:bodyPr>
          <a:p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Picture 9" descr="A close-up of a human body&#10;&#10;AI-generated content may be incorrect."/>
          <p:cNvPicPr/>
          <p:nvPr/>
        </p:nvPicPr>
        <p:blipFill>
          <a:blip r:embed="rId2"/>
          <a:stretch/>
        </p:blipFill>
        <p:spPr>
          <a:xfrm>
            <a:off x="0" y="-34560"/>
            <a:ext cx="1117080" cy="781560"/>
          </a:xfrm>
          <a:prstGeom prst="rect">
            <a:avLst/>
          </a:prstGeom>
          <a:ln w="0">
            <a:noFill/>
          </a:ln>
        </p:spPr>
      </p:pic>
      <p:sp>
        <p:nvSpPr>
          <p:cNvPr id="89" name="Rectangle 5"/>
          <p:cNvSpPr/>
          <p:nvPr/>
        </p:nvSpPr>
        <p:spPr>
          <a:xfrm>
            <a:off x="9409680" y="6477120"/>
            <a:ext cx="1563120" cy="1436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8f9cb8"/>
                </a:solidFill>
                <a:latin typeface="Times New Roman"/>
              </a:rPr>
              <a:t>Unpublished Data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" descr=""/>
          <p:cNvPicPr/>
          <p:nvPr/>
        </p:nvPicPr>
        <p:blipFill>
          <a:blip r:embed="rId3"/>
          <a:stretch/>
        </p:blipFill>
        <p:spPr>
          <a:xfrm>
            <a:off x="5029200" y="30600"/>
            <a:ext cx="1476360" cy="685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ftr" idx="16"/>
          </p:nvPr>
        </p:nvSpPr>
        <p:spPr>
          <a:xfrm>
            <a:off x="480600" y="6477120"/>
            <a:ext cx="4320000" cy="143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8f9cb8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f9cb8"/>
                </a:solidFill>
                <a:latin typeface="Times New Roman"/>
              </a:rPr>
              <a:t>Linh Dang– AG Neeße - UMG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Rubrik 7"/>
          <p:cNvSpPr/>
          <p:nvPr/>
        </p:nvSpPr>
        <p:spPr>
          <a:xfrm>
            <a:off x="228600" y="888840"/>
            <a:ext cx="1097280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720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29400"/>
                </a:solidFill>
                <a:latin typeface="Times New Roman"/>
              </a:rPr>
              <a:t>Decontamina</a:t>
            </a:r>
            <a:r>
              <a:rPr b="1" lang="en-US" sz="3200" spc="-1" strike="noStrike">
                <a:solidFill>
                  <a:srgbClr val="f29400"/>
                </a:solidFill>
                <a:latin typeface="Times New Roman"/>
              </a:rPr>
              <a:t>tion </a:t>
            </a:r>
            <a:r>
              <a:rPr b="1" lang="en-US" sz="3200" spc="-1" strike="noStrike">
                <a:solidFill>
                  <a:srgbClr val="f29400"/>
                </a:solidFill>
                <a:latin typeface="Times New Roman"/>
              </a:rPr>
              <a:t>Strategies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ektangel 6"/>
          <p:cNvSpPr/>
          <p:nvPr/>
        </p:nvSpPr>
        <p:spPr>
          <a:xfrm>
            <a:off x="0" y="7560"/>
            <a:ext cx="12191400" cy="739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2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21600" rIns="0" tIns="0" bIns="0" anchor="ctr">
            <a:noAutofit/>
          </a:bodyPr>
          <a:p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Picture 12" descr="45th Anual Meeting of the German Pancreas Club"/>
          <p:cNvPicPr/>
          <p:nvPr/>
        </p:nvPicPr>
        <p:blipFill>
          <a:blip r:embed="rId1"/>
          <a:srcRect l="1538" t="0" r="65221" b="0"/>
          <a:stretch/>
        </p:blipFill>
        <p:spPr>
          <a:xfrm>
            <a:off x="9144000" y="0"/>
            <a:ext cx="3047400" cy="741240"/>
          </a:xfrm>
          <a:prstGeom prst="rect">
            <a:avLst/>
          </a:prstGeom>
          <a:ln w="0">
            <a:noFill/>
          </a:ln>
        </p:spPr>
      </p:pic>
      <p:pic>
        <p:nvPicPr>
          <p:cNvPr id="95" name="Picture 13" descr="A close-up of a human body&#10;&#10;AI-generated content may be incorrect."/>
          <p:cNvPicPr/>
          <p:nvPr/>
        </p:nvPicPr>
        <p:blipFill>
          <a:blip r:embed="rId2"/>
          <a:stretch/>
        </p:blipFill>
        <p:spPr>
          <a:xfrm>
            <a:off x="0" y="-34560"/>
            <a:ext cx="1117080" cy="781560"/>
          </a:xfrm>
          <a:prstGeom prst="rect">
            <a:avLst/>
          </a:prstGeom>
          <a:ln w="0">
            <a:noFill/>
          </a:ln>
        </p:spPr>
      </p:pic>
      <p:sp>
        <p:nvSpPr>
          <p:cNvPr id="96" name="Rectangle 8"/>
          <p:cNvSpPr/>
          <p:nvPr/>
        </p:nvSpPr>
        <p:spPr>
          <a:xfrm>
            <a:off x="9409680" y="6477120"/>
            <a:ext cx="1563120" cy="1436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8f9cb8"/>
                </a:solidFill>
                <a:latin typeface="Times New Roman"/>
              </a:rPr>
              <a:t>Unpublished Data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3"/>
          <a:stretch/>
        </p:blipFill>
        <p:spPr>
          <a:xfrm>
            <a:off x="5029200" y="30600"/>
            <a:ext cx="1476360" cy="685800"/>
          </a:xfrm>
          <a:prstGeom prst="rect">
            <a:avLst/>
          </a:prstGeom>
          <a:ln w="0">
            <a:noFill/>
          </a:ln>
        </p:spPr>
      </p:pic>
      <p:pic>
        <p:nvPicPr>
          <p:cNvPr id="98" name="" descr=""/>
          <p:cNvPicPr/>
          <p:nvPr/>
        </p:nvPicPr>
        <p:blipFill>
          <a:blip r:embed="rId4"/>
          <a:stretch/>
        </p:blipFill>
        <p:spPr>
          <a:xfrm>
            <a:off x="914400" y="1600200"/>
            <a:ext cx="9804960" cy="4397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ftr" idx="17"/>
          </p:nvPr>
        </p:nvSpPr>
        <p:spPr>
          <a:xfrm>
            <a:off x="480600" y="6477120"/>
            <a:ext cx="4320000" cy="143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8f9cb8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f9cb8"/>
                </a:solidFill>
                <a:latin typeface="Times New Roman"/>
              </a:rPr>
              <a:t>Linh Dang– AG Neeße - UMG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Rubrik 8"/>
          <p:cNvSpPr/>
          <p:nvPr/>
        </p:nvSpPr>
        <p:spPr>
          <a:xfrm>
            <a:off x="228600" y="888840"/>
            <a:ext cx="1097280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720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29400"/>
                </a:solidFill>
                <a:latin typeface="Times New Roman"/>
              </a:rPr>
              <a:t>Assessment of Decontamination Approach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ektangel 8"/>
          <p:cNvSpPr/>
          <p:nvPr/>
        </p:nvSpPr>
        <p:spPr>
          <a:xfrm>
            <a:off x="0" y="7560"/>
            <a:ext cx="12191400" cy="739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2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21600" rIns="0" tIns="0" bIns="0" anchor="ctr">
            <a:noAutofit/>
          </a:bodyPr>
          <a:p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Picture 15" descr="45th Anual Meeting of the German Pancreas Club"/>
          <p:cNvPicPr/>
          <p:nvPr/>
        </p:nvPicPr>
        <p:blipFill>
          <a:blip r:embed="rId1"/>
          <a:srcRect l="1538" t="0" r="65221" b="0"/>
          <a:stretch/>
        </p:blipFill>
        <p:spPr>
          <a:xfrm>
            <a:off x="9144000" y="0"/>
            <a:ext cx="3047400" cy="741240"/>
          </a:xfrm>
          <a:prstGeom prst="rect">
            <a:avLst/>
          </a:prstGeom>
          <a:ln w="0">
            <a:noFill/>
          </a:ln>
        </p:spPr>
      </p:pic>
      <p:pic>
        <p:nvPicPr>
          <p:cNvPr id="103" name="Picture 16" descr="A close-up of a human body&#10;&#10;AI-generated content may be incorrect."/>
          <p:cNvPicPr/>
          <p:nvPr/>
        </p:nvPicPr>
        <p:blipFill>
          <a:blip r:embed="rId2"/>
          <a:stretch/>
        </p:blipFill>
        <p:spPr>
          <a:xfrm>
            <a:off x="0" y="-34560"/>
            <a:ext cx="1117080" cy="781560"/>
          </a:xfrm>
          <a:prstGeom prst="rect">
            <a:avLst/>
          </a:prstGeom>
          <a:ln w="0">
            <a:noFill/>
          </a:ln>
        </p:spPr>
      </p:pic>
      <p:sp>
        <p:nvSpPr>
          <p:cNvPr id="104" name="Rectangle 9"/>
          <p:cNvSpPr/>
          <p:nvPr/>
        </p:nvSpPr>
        <p:spPr>
          <a:xfrm>
            <a:off x="9409680" y="6477120"/>
            <a:ext cx="1563120" cy="1436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8f9cb8"/>
                </a:solidFill>
                <a:latin typeface="Times New Roman"/>
              </a:rPr>
              <a:t>Unpublished Data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3"/>
          <a:stretch/>
        </p:blipFill>
        <p:spPr>
          <a:xfrm>
            <a:off x="5029200" y="30600"/>
            <a:ext cx="1476360" cy="685800"/>
          </a:xfrm>
          <a:prstGeom prst="rect">
            <a:avLst/>
          </a:prstGeom>
          <a:ln w="0">
            <a:noFill/>
          </a:ln>
        </p:spPr>
      </p:pic>
      <p:sp>
        <p:nvSpPr>
          <p:cNvPr id="106" name=""/>
          <p:cNvSpPr txBox="1"/>
          <p:nvPr/>
        </p:nvSpPr>
        <p:spPr>
          <a:xfrm>
            <a:off x="135000" y="2183040"/>
            <a:ext cx="4894200" cy="16855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Composite Score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: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Bacterial profile before/after decontaminated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longitudinal collection of NCT samples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8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Higher is better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4"/>
          <a:stretch/>
        </p:blipFill>
        <p:spPr>
          <a:xfrm>
            <a:off x="5394960" y="1600560"/>
            <a:ext cx="6720480" cy="4800240"/>
          </a:xfrm>
          <a:prstGeom prst="rect">
            <a:avLst/>
          </a:prstGeom>
          <a:ln w="0">
            <a:noFill/>
          </a:ln>
        </p:spPr>
      </p:pic>
      <p:sp>
        <p:nvSpPr>
          <p:cNvPr id="108" name=""/>
          <p:cNvSpPr/>
          <p:nvPr/>
        </p:nvSpPr>
        <p:spPr>
          <a:xfrm>
            <a:off x="6172200" y="388620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highlight>
                <a:srgbClr val="ff0000"/>
              </a:highlight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ftr" idx="18"/>
          </p:nvPr>
        </p:nvSpPr>
        <p:spPr>
          <a:xfrm>
            <a:off x="480600" y="6477120"/>
            <a:ext cx="4320000" cy="143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8f9cb8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f9cb8"/>
                </a:solidFill>
                <a:latin typeface="Times New Roman"/>
              </a:rPr>
              <a:t>Linh Dang– AG Neeße - UMG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Rubrik 9"/>
          <p:cNvSpPr/>
          <p:nvPr/>
        </p:nvSpPr>
        <p:spPr>
          <a:xfrm>
            <a:off x="228600" y="888840"/>
            <a:ext cx="1143000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720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f29400"/>
                </a:solidFill>
                <a:latin typeface="Times New Roman"/>
              </a:rPr>
              <a:t>Assessment of Decontamination Approach with Technical Replica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ektangel 9"/>
          <p:cNvSpPr/>
          <p:nvPr/>
        </p:nvSpPr>
        <p:spPr>
          <a:xfrm>
            <a:off x="0" y="7560"/>
            <a:ext cx="12191400" cy="739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2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21600" rIns="0" tIns="0" bIns="0" anchor="ctr">
            <a:noAutofit/>
          </a:bodyPr>
          <a:p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Picture 17" descr="45th Anual Meeting of the German Pancreas Club"/>
          <p:cNvPicPr/>
          <p:nvPr/>
        </p:nvPicPr>
        <p:blipFill>
          <a:blip r:embed="rId1"/>
          <a:srcRect l="1538" t="0" r="65221" b="0"/>
          <a:stretch/>
        </p:blipFill>
        <p:spPr>
          <a:xfrm>
            <a:off x="9144000" y="0"/>
            <a:ext cx="3047400" cy="741240"/>
          </a:xfrm>
          <a:prstGeom prst="rect">
            <a:avLst/>
          </a:prstGeom>
          <a:ln w="0">
            <a:noFill/>
          </a:ln>
        </p:spPr>
      </p:pic>
      <p:pic>
        <p:nvPicPr>
          <p:cNvPr id="113" name="Picture 18" descr="A close-up of a human body&#10;&#10;AI-generated content may be incorrect."/>
          <p:cNvPicPr/>
          <p:nvPr/>
        </p:nvPicPr>
        <p:blipFill>
          <a:blip r:embed="rId2"/>
          <a:stretch/>
        </p:blipFill>
        <p:spPr>
          <a:xfrm>
            <a:off x="0" y="-34560"/>
            <a:ext cx="1117080" cy="781560"/>
          </a:xfrm>
          <a:prstGeom prst="rect">
            <a:avLst/>
          </a:prstGeom>
          <a:ln w="0">
            <a:noFill/>
          </a:ln>
        </p:spPr>
      </p:pic>
      <p:sp>
        <p:nvSpPr>
          <p:cNvPr id="114" name="Rectangle 10"/>
          <p:cNvSpPr/>
          <p:nvPr/>
        </p:nvSpPr>
        <p:spPr>
          <a:xfrm>
            <a:off x="9409680" y="6477120"/>
            <a:ext cx="1563120" cy="1436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8f9cb8"/>
                </a:solidFill>
                <a:latin typeface="Times New Roman"/>
              </a:rPr>
              <a:t>Unpublished Data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3"/>
          <a:stretch/>
        </p:blipFill>
        <p:spPr>
          <a:xfrm>
            <a:off x="5029200" y="30600"/>
            <a:ext cx="1476360" cy="685800"/>
          </a:xfrm>
          <a:prstGeom prst="rect">
            <a:avLst/>
          </a:prstGeom>
          <a:ln w="0">
            <a:noFill/>
          </a:ln>
        </p:spPr>
      </p:pic>
      <p:sp>
        <p:nvSpPr>
          <p:cNvPr id="116" name=""/>
          <p:cNvSpPr txBox="1"/>
          <p:nvPr/>
        </p:nvSpPr>
        <p:spPr>
          <a:xfrm>
            <a:off x="135000" y="4502880"/>
            <a:ext cx="5122800" cy="1722240"/>
          </a:xfrm>
          <a:prstGeom prst="rect">
            <a:avLst/>
          </a:prstGeom>
          <a:noFill/>
          <a:ln w="36720">
            <a:solidFill>
              <a:srgbClr val="000000"/>
            </a:solidFill>
            <a:round/>
          </a:ln>
        </p:spPr>
        <p:txBody>
          <a:bodyPr lIns="108360" rIns="108360" tIns="63360" bIns="63360" anchor="t">
            <a:noAutofit/>
          </a:bodyPr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From 10 PDAC samples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: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Each has 2 replica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Distance between 2 replica before/after decontamination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Lower is better</a:t>
            </a:r>
            <a:endParaRPr b="0" lang="en-US" sz="18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4"/>
          <a:srcRect l="0" t="8331" r="0" b="0"/>
          <a:stretch/>
        </p:blipFill>
        <p:spPr>
          <a:xfrm>
            <a:off x="22320" y="1582200"/>
            <a:ext cx="5235480" cy="2594160"/>
          </a:xfrm>
          <a:prstGeom prst="rect">
            <a:avLst/>
          </a:prstGeom>
          <a:ln w="0">
            <a:noFill/>
          </a:ln>
        </p:spPr>
      </p:pic>
      <p:pic>
        <p:nvPicPr>
          <p:cNvPr id="118" name="" descr=""/>
          <p:cNvPicPr/>
          <p:nvPr/>
        </p:nvPicPr>
        <p:blipFill>
          <a:blip r:embed="rId5"/>
          <a:stretch/>
        </p:blipFill>
        <p:spPr>
          <a:xfrm>
            <a:off x="5507640" y="1608840"/>
            <a:ext cx="6608160" cy="4719960"/>
          </a:xfrm>
          <a:prstGeom prst="rect">
            <a:avLst/>
          </a:prstGeom>
          <a:ln w="0">
            <a:noFill/>
          </a:ln>
        </p:spPr>
      </p:pic>
      <p:sp>
        <p:nvSpPr>
          <p:cNvPr id="119" name=""/>
          <p:cNvSpPr/>
          <p:nvPr/>
        </p:nvSpPr>
        <p:spPr>
          <a:xfrm>
            <a:off x="11430000" y="5715000"/>
            <a:ext cx="457200" cy="2286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ftr" idx="19"/>
          </p:nvPr>
        </p:nvSpPr>
        <p:spPr>
          <a:xfrm>
            <a:off x="480600" y="6477120"/>
            <a:ext cx="11228040" cy="143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000" spc="-1" strike="noStrike">
                <a:solidFill>
                  <a:srgbClr val="8f9cb8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f9cb8"/>
                </a:solidFill>
                <a:latin typeface="Times New Roman"/>
              </a:rPr>
              <a:t>Louisa Eskelson – DPC </a:t>
            </a:r>
            <a:r>
              <a:rPr b="0" lang="en-US" sz="1000" spc="-1" strike="noStrike">
                <a:solidFill>
                  <a:srgbClr val="8f9cb8"/>
                </a:solidFill>
                <a:latin typeface="Times New Roman"/>
              </a:rPr>
              <a:t>Freiburg 2026, Abstract ID 63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Rubrik 5"/>
          <p:cNvSpPr/>
          <p:nvPr/>
        </p:nvSpPr>
        <p:spPr>
          <a:xfrm>
            <a:off x="1158120" y="360000"/>
            <a:ext cx="845280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720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3500" spc="-1" strike="noStrike">
                <a:solidFill>
                  <a:srgbClr val="f29400"/>
                </a:solidFill>
                <a:latin typeface="Times New Roman"/>
              </a:rPr>
              <a:t>Thank you for your attention!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Picture 2" descr="wilhelm-sander-stiftung - Blog-Förderlotse"/>
          <p:cNvPicPr/>
          <p:nvPr/>
        </p:nvPicPr>
        <p:blipFill>
          <a:blip r:embed="rId1"/>
          <a:stretch/>
        </p:blipFill>
        <p:spPr>
          <a:xfrm>
            <a:off x="7553520" y="4992840"/>
            <a:ext cx="2653200" cy="1325520"/>
          </a:xfrm>
          <a:prstGeom prst="rect">
            <a:avLst/>
          </a:prstGeom>
          <a:ln w="0">
            <a:noFill/>
          </a:ln>
        </p:spPr>
      </p:pic>
      <p:pic>
        <p:nvPicPr>
          <p:cNvPr id="123" name="Picture 2" descr="X:\Lissy\PDAC Klifo Sep 18\Onsite visit\LOGO_KFO5002_v3.tif"/>
          <p:cNvPicPr/>
          <p:nvPr/>
        </p:nvPicPr>
        <p:blipFill>
          <a:blip r:embed="rId2"/>
          <a:stretch/>
        </p:blipFill>
        <p:spPr>
          <a:xfrm>
            <a:off x="2913840" y="5157000"/>
            <a:ext cx="1481040" cy="799200"/>
          </a:xfrm>
          <a:prstGeom prst="rect">
            <a:avLst/>
          </a:prstGeom>
          <a:ln w="0">
            <a:noFill/>
          </a:ln>
        </p:spPr>
      </p:pic>
      <p:pic>
        <p:nvPicPr>
          <p:cNvPr id="124" name="Picture 14" descr="Image result for krebshilfe">
            <a:hlinkClick r:id="rId3"/>
          </p:cNvPr>
          <p:cNvPicPr/>
          <p:nvPr/>
        </p:nvPicPr>
        <p:blipFill>
          <a:blip r:embed="rId4"/>
          <a:srcRect l="0" t="29219" r="0" b="28870"/>
          <a:stretch/>
        </p:blipFill>
        <p:spPr>
          <a:xfrm>
            <a:off x="507960" y="5812560"/>
            <a:ext cx="2444760" cy="576720"/>
          </a:xfrm>
          <a:prstGeom prst="rect">
            <a:avLst/>
          </a:prstGeom>
          <a:ln w="9525">
            <a:noFill/>
          </a:ln>
        </p:spPr>
      </p:pic>
      <p:pic>
        <p:nvPicPr>
          <p:cNvPr id="125" name="Grafik 8" descr=""/>
          <p:cNvPicPr/>
          <p:nvPr/>
        </p:nvPicPr>
        <p:blipFill>
          <a:blip r:embed="rId5"/>
          <a:stretch/>
        </p:blipFill>
        <p:spPr>
          <a:xfrm>
            <a:off x="4045680" y="6074280"/>
            <a:ext cx="1555200" cy="685440"/>
          </a:xfrm>
          <a:prstGeom prst="rect">
            <a:avLst/>
          </a:prstGeom>
          <a:ln w="0">
            <a:noFill/>
          </a:ln>
        </p:spPr>
      </p:pic>
      <p:pic>
        <p:nvPicPr>
          <p:cNvPr id="126" name="Grafik 9" descr=""/>
          <p:cNvPicPr/>
          <p:nvPr/>
        </p:nvPicPr>
        <p:blipFill>
          <a:blip r:embed="rId6"/>
          <a:stretch/>
        </p:blipFill>
        <p:spPr>
          <a:xfrm>
            <a:off x="7896240" y="142920"/>
            <a:ext cx="4100400" cy="506520"/>
          </a:xfrm>
          <a:prstGeom prst="rect">
            <a:avLst/>
          </a:prstGeom>
          <a:ln w="0">
            <a:noFill/>
          </a:ln>
        </p:spPr>
      </p:pic>
      <p:sp>
        <p:nvSpPr>
          <p:cNvPr id="127" name="Textfeld 13"/>
          <p:cNvSpPr/>
          <p:nvPr/>
        </p:nvSpPr>
        <p:spPr>
          <a:xfrm>
            <a:off x="168840" y="955080"/>
            <a:ext cx="2612880" cy="47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Times New Roman"/>
              </a:rPr>
              <a:t>AG Neesse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Christoph Ammer-Herrmenau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Jacob Hamm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Jutta Blumberg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Ulrike Wegener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Sören Buchholz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Catharina Lingens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Cathleen Heuer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Areej Shahbaz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Richard Meier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Rahel Scholz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Louisa Eskelson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Helena Lescow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Charlotte Vogel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Linh Dang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Isabel Toussaint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Johannes Richter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Annemarie Dresbach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Leoni Florschütz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feld 14"/>
          <p:cNvSpPr/>
          <p:nvPr/>
        </p:nvSpPr>
        <p:spPr>
          <a:xfrm>
            <a:off x="9070560" y="1008720"/>
            <a:ext cx="3022920" cy="423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Times New Roman"/>
              </a:rPr>
              <a:t>UMG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AG Beissbarth (Bioinformatik)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AG Ströbel (Pathologie)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AG Schneider (Chirurgie)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AG Papantonis (Pathologie)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AG Sax (Medizinische Informatik)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Times New Roman"/>
              </a:rPr>
              <a:t>Externe Kooperationspartner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Johannes Zimmermann, Jena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Gabriel Nussbaum, Jerusalem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Bernd Heinrich, Hannover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Magdalena Huber, Marburg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Matthias Gaida, Mainz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Paco Real, CNIO Madrid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Nuria Malats, CNIO Madrid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Evgenij Shumilov, Münster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Times New Roman"/>
              </a:rPr>
              <a:t>Ulrike Bacher, Bern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" name="Grafik 16" descr=""/>
          <p:cNvPicPr/>
          <p:nvPr/>
        </p:nvPicPr>
        <p:blipFill>
          <a:blip r:embed="rId7"/>
          <a:stretch/>
        </p:blipFill>
        <p:spPr>
          <a:xfrm>
            <a:off x="6622560" y="6114960"/>
            <a:ext cx="1431720" cy="663840"/>
          </a:xfrm>
          <a:prstGeom prst="rect">
            <a:avLst/>
          </a:prstGeom>
          <a:ln w="0">
            <a:noFill/>
          </a:ln>
        </p:spPr>
      </p:pic>
      <p:pic>
        <p:nvPicPr>
          <p:cNvPr id="130" name="Grafik 17" descr="Ein Bild, das Text, Schrift, Grafiken, Logo enthält.&#10;&#10;KI-generierte Inhalte können fehlerhaft sein."/>
          <p:cNvPicPr/>
          <p:nvPr/>
        </p:nvPicPr>
        <p:blipFill>
          <a:blip r:embed="rId8"/>
          <a:stretch/>
        </p:blipFill>
        <p:spPr>
          <a:xfrm>
            <a:off x="5384880" y="5122800"/>
            <a:ext cx="1079640" cy="948960"/>
          </a:xfrm>
          <a:prstGeom prst="rect">
            <a:avLst/>
          </a:prstGeom>
          <a:ln w="0">
            <a:noFill/>
          </a:ln>
        </p:spPr>
      </p:pic>
      <p:pic>
        <p:nvPicPr>
          <p:cNvPr id="131" name="Grafik 4" descr=""/>
          <p:cNvPicPr/>
          <p:nvPr/>
        </p:nvPicPr>
        <p:blipFill>
          <a:blip r:embed="rId9"/>
          <a:srcRect l="7708" t="11888" r="9860" b="0"/>
          <a:stretch/>
        </p:blipFill>
        <p:spPr>
          <a:xfrm>
            <a:off x="2913840" y="1249560"/>
            <a:ext cx="5937840" cy="3569760"/>
          </a:xfrm>
          <a:prstGeom prst="rect">
            <a:avLst/>
          </a:prstGeom>
          <a:ln w="0">
            <a:noFill/>
          </a:ln>
        </p:spPr>
      </p:pic>
      <p:pic>
        <p:nvPicPr>
          <p:cNvPr id="132" name="Picture 1" descr="A close-up of a human body&#10;&#10;AI-generated content may be incorrect."/>
          <p:cNvPicPr/>
          <p:nvPr/>
        </p:nvPicPr>
        <p:blipFill>
          <a:blip r:embed="rId10"/>
          <a:stretch/>
        </p:blipFill>
        <p:spPr>
          <a:xfrm>
            <a:off x="9788760" y="5503680"/>
            <a:ext cx="1894320" cy="1325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UMG_Praesentation">
  <a:themeElements>
    <a:clrScheme name="">
      <a:dk1>
        <a:srgbClr val="000000"/>
      </a:dk1>
      <a:lt1>
        <a:srgbClr val="ffffff"/>
      </a:lt1>
      <a:dk2>
        <a:srgbClr val="003867"/>
      </a:dk2>
      <a:lt2>
        <a:srgbClr val="c2bebe"/>
      </a:lt2>
      <a:accent1>
        <a:srgbClr val="8f9cb8"/>
      </a:accent1>
      <a:accent2>
        <a:srgbClr val="f29400"/>
      </a:accent2>
      <a:accent3>
        <a:srgbClr val="ffffff"/>
      </a:accent3>
      <a:accent4>
        <a:srgbClr val="000000"/>
      </a:accent4>
      <a:accent5>
        <a:srgbClr val="c6cbd8"/>
      </a:accent5>
      <a:accent6>
        <a:srgbClr val="db8600"/>
      </a:accent6>
      <a:hlink>
        <a:srgbClr val="bd2b33"/>
      </a:hlink>
      <a:folHlink>
        <a:srgbClr val="009cc9"/>
      </a:folHlink>
    </a:clrScheme>
    <a:fontScheme name="UMG_Praesentation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MG_Praesentation">
  <a:themeElements>
    <a:clrScheme name="">
      <a:dk1>
        <a:srgbClr val="000000"/>
      </a:dk1>
      <a:lt1>
        <a:srgbClr val="ffffff"/>
      </a:lt1>
      <a:dk2>
        <a:srgbClr val="003867"/>
      </a:dk2>
      <a:lt2>
        <a:srgbClr val="c2bebe"/>
      </a:lt2>
      <a:accent1>
        <a:srgbClr val="8f9cb8"/>
      </a:accent1>
      <a:accent2>
        <a:srgbClr val="f29400"/>
      </a:accent2>
      <a:accent3>
        <a:srgbClr val="ffffff"/>
      </a:accent3>
      <a:accent4>
        <a:srgbClr val="000000"/>
      </a:accent4>
      <a:accent5>
        <a:srgbClr val="c6cbd8"/>
      </a:accent5>
      <a:accent6>
        <a:srgbClr val="db8600"/>
      </a:accent6>
      <a:hlink>
        <a:srgbClr val="bd2b33"/>
      </a:hlink>
      <a:folHlink>
        <a:srgbClr val="009cc9"/>
      </a:folHlink>
    </a:clrScheme>
    <a:fontScheme name="UMG_Praesentation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UMG_Praesentation">
  <a:themeElements>
    <a:clrScheme name="">
      <a:dk1>
        <a:srgbClr val="000000"/>
      </a:dk1>
      <a:lt1>
        <a:srgbClr val="ffffff"/>
      </a:lt1>
      <a:dk2>
        <a:srgbClr val="003867"/>
      </a:dk2>
      <a:lt2>
        <a:srgbClr val="c2bebe"/>
      </a:lt2>
      <a:accent1>
        <a:srgbClr val="8f9cb8"/>
      </a:accent1>
      <a:accent2>
        <a:srgbClr val="f29400"/>
      </a:accent2>
      <a:accent3>
        <a:srgbClr val="ffffff"/>
      </a:accent3>
      <a:accent4>
        <a:srgbClr val="000000"/>
      </a:accent4>
      <a:accent5>
        <a:srgbClr val="c6cbd8"/>
      </a:accent5>
      <a:accent6>
        <a:srgbClr val="db8600"/>
      </a:accent6>
      <a:hlink>
        <a:srgbClr val="bd2b33"/>
      </a:hlink>
      <a:folHlink>
        <a:srgbClr val="009cc9"/>
      </a:folHlink>
    </a:clrScheme>
    <a:fontScheme name="UMG_Praesentation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UMG_Praesentation">
  <a:themeElements>
    <a:clrScheme name="">
      <a:dk1>
        <a:srgbClr val="000000"/>
      </a:dk1>
      <a:lt1>
        <a:srgbClr val="ffffff"/>
      </a:lt1>
      <a:dk2>
        <a:srgbClr val="003867"/>
      </a:dk2>
      <a:lt2>
        <a:srgbClr val="c2bebe"/>
      </a:lt2>
      <a:accent1>
        <a:srgbClr val="8f9cb8"/>
      </a:accent1>
      <a:accent2>
        <a:srgbClr val="f29400"/>
      </a:accent2>
      <a:accent3>
        <a:srgbClr val="ffffff"/>
      </a:accent3>
      <a:accent4>
        <a:srgbClr val="000000"/>
      </a:accent4>
      <a:accent5>
        <a:srgbClr val="c6cbd8"/>
      </a:accent5>
      <a:accent6>
        <a:srgbClr val="db8600"/>
      </a:accent6>
      <a:hlink>
        <a:srgbClr val="bd2b33"/>
      </a:hlink>
      <a:folHlink>
        <a:srgbClr val="009cc9"/>
      </a:folHlink>
    </a:clrScheme>
    <a:fontScheme name="UMG_Praesentation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UMG_Praesentation">
  <a:themeElements>
    <a:clrScheme name="">
      <a:dk1>
        <a:srgbClr val="000000"/>
      </a:dk1>
      <a:lt1>
        <a:srgbClr val="ffffff"/>
      </a:lt1>
      <a:dk2>
        <a:srgbClr val="003867"/>
      </a:dk2>
      <a:lt2>
        <a:srgbClr val="c2bebe"/>
      </a:lt2>
      <a:accent1>
        <a:srgbClr val="8f9cb8"/>
      </a:accent1>
      <a:accent2>
        <a:srgbClr val="f29400"/>
      </a:accent2>
      <a:accent3>
        <a:srgbClr val="ffffff"/>
      </a:accent3>
      <a:accent4>
        <a:srgbClr val="000000"/>
      </a:accent4>
      <a:accent5>
        <a:srgbClr val="c6cbd8"/>
      </a:accent5>
      <a:accent6>
        <a:srgbClr val="db8600"/>
      </a:accent6>
      <a:hlink>
        <a:srgbClr val="bd2b33"/>
      </a:hlink>
      <a:folHlink>
        <a:srgbClr val="009cc9"/>
      </a:folHlink>
    </a:clrScheme>
    <a:fontScheme name="UMG_Praesentation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UMG_Praesentation">
  <a:themeElements>
    <a:clrScheme name="">
      <a:dk1>
        <a:srgbClr val="000000"/>
      </a:dk1>
      <a:lt1>
        <a:srgbClr val="ffffff"/>
      </a:lt1>
      <a:dk2>
        <a:srgbClr val="003867"/>
      </a:dk2>
      <a:lt2>
        <a:srgbClr val="c2bebe"/>
      </a:lt2>
      <a:accent1>
        <a:srgbClr val="8f9cb8"/>
      </a:accent1>
      <a:accent2>
        <a:srgbClr val="f29400"/>
      </a:accent2>
      <a:accent3>
        <a:srgbClr val="ffffff"/>
      </a:accent3>
      <a:accent4>
        <a:srgbClr val="000000"/>
      </a:accent4>
      <a:accent5>
        <a:srgbClr val="c6cbd8"/>
      </a:accent5>
      <a:accent6>
        <a:srgbClr val="db8600"/>
      </a:accent6>
      <a:hlink>
        <a:srgbClr val="bd2b33"/>
      </a:hlink>
      <a:folHlink>
        <a:srgbClr val="009cc9"/>
      </a:folHlink>
    </a:clrScheme>
    <a:fontScheme name="UMG_Praesentation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UMG_Praesentation">
  <a:themeElements>
    <a:clrScheme name="">
      <a:dk1>
        <a:srgbClr val="000000"/>
      </a:dk1>
      <a:lt1>
        <a:srgbClr val="ffffff"/>
      </a:lt1>
      <a:dk2>
        <a:srgbClr val="003867"/>
      </a:dk2>
      <a:lt2>
        <a:srgbClr val="c2bebe"/>
      </a:lt2>
      <a:accent1>
        <a:srgbClr val="8f9cb8"/>
      </a:accent1>
      <a:accent2>
        <a:srgbClr val="f29400"/>
      </a:accent2>
      <a:accent3>
        <a:srgbClr val="ffffff"/>
      </a:accent3>
      <a:accent4>
        <a:srgbClr val="000000"/>
      </a:accent4>
      <a:accent5>
        <a:srgbClr val="c6cbd8"/>
      </a:accent5>
      <a:accent6>
        <a:srgbClr val="db8600"/>
      </a:accent6>
      <a:hlink>
        <a:srgbClr val="bd2b33"/>
      </a:hlink>
      <a:folHlink>
        <a:srgbClr val="009cc9"/>
      </a:folHlink>
    </a:clrScheme>
    <a:fontScheme name="UMG_Praesentation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docProps/app.xml><?xml version="1.0" encoding="utf-8"?>
<Properties xmlns="http://schemas.openxmlformats.org/officeDocument/2006/extended-properties" xmlns:vt="http://schemas.openxmlformats.org/officeDocument/2006/docPropsVTypes">
  <Template>UMG_Praesentation</Template>
  <TotalTime>3048</TotalTime>
  <Application>LibreOffice/24.2.7.2$Linux_X86_64 LibreOffice_project/420$Build-2</Application>
  <AppVersion>15.0000</AppVersion>
  <Words>973</Words>
  <Paragraphs>181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2026-02-16T14:34:26Z</dcterms:created>
  <dc:creator>Eskelson, Louisa Hannah Sophie</dc:creator>
  <dc:description/>
  <dc:language>en-US</dc:language>
  <cp:lastModifiedBy/>
  <dcterms:modified xsi:type="dcterms:W3CDTF">2026-02-27T13:43:02Z</dcterms:modified>
  <cp:revision>64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Widescreen</vt:lpwstr>
  </property>
  <property fmtid="{D5CDD505-2E9C-101B-9397-08002B2CF9AE}" pid="4" name="Slides">
    <vt:i4>19</vt:i4>
  </property>
</Properties>
</file>